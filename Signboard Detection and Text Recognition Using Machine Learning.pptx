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8" d="100"/>
          <a:sy n="88" d="100"/>
        </p:scale>
        <p:origin x="494"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CD4AC33D-B372-4588-A5F7-D5FE1A7C3847}" type="datetimeFigureOut">
              <a:rPr lang="en-IN" smtClean="0"/>
              <a:t>11-03-2024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556449F-F3AB-4EEC-8862-D1DDCEDEDC2D}" type="slidenum">
              <a:rPr lang="en-IN" smtClean="0"/>
              <a:t>‹#›</a:t>
            </a:fld>
            <a:endParaRPr lang="en-IN"/>
          </a:p>
        </p:txBody>
      </p:sp>
    </p:spTree>
    <p:extLst>
      <p:ext uri="{BB962C8B-B14F-4D97-AF65-F5344CB8AC3E}">
        <p14:creationId xmlns:p14="http://schemas.microsoft.com/office/powerpoint/2010/main" val="35883782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CD4AC33D-B372-4588-A5F7-D5FE1A7C3847}" type="datetimeFigureOut">
              <a:rPr lang="en-IN" smtClean="0"/>
              <a:t>11-03-2024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556449F-F3AB-4EEC-8862-D1DDCEDEDC2D}" type="slidenum">
              <a:rPr lang="en-IN" smtClean="0"/>
              <a:t>‹#›</a:t>
            </a:fld>
            <a:endParaRPr lang="en-IN"/>
          </a:p>
        </p:txBody>
      </p:sp>
    </p:spTree>
    <p:extLst>
      <p:ext uri="{BB962C8B-B14F-4D97-AF65-F5344CB8AC3E}">
        <p14:creationId xmlns:p14="http://schemas.microsoft.com/office/powerpoint/2010/main" val="18955525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CD4AC33D-B372-4588-A5F7-D5FE1A7C3847}" type="datetimeFigureOut">
              <a:rPr lang="en-IN" smtClean="0"/>
              <a:t>11-03-2024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556449F-F3AB-4EEC-8862-D1DDCEDEDC2D}" type="slidenum">
              <a:rPr lang="en-IN" smtClean="0"/>
              <a:t>‹#›</a:t>
            </a:fld>
            <a:endParaRPr lang="en-IN"/>
          </a:p>
        </p:txBody>
      </p:sp>
    </p:spTree>
    <p:extLst>
      <p:ext uri="{BB962C8B-B14F-4D97-AF65-F5344CB8AC3E}">
        <p14:creationId xmlns:p14="http://schemas.microsoft.com/office/powerpoint/2010/main" val="37204575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CD4AC33D-B372-4588-A5F7-D5FE1A7C3847}" type="datetimeFigureOut">
              <a:rPr lang="en-IN" smtClean="0"/>
              <a:t>11-03-2024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556449F-F3AB-4EEC-8862-D1DDCEDEDC2D}" type="slidenum">
              <a:rPr lang="en-IN" smtClean="0"/>
              <a:t>‹#›</a:t>
            </a:fld>
            <a:endParaRPr lang="en-IN"/>
          </a:p>
        </p:txBody>
      </p:sp>
    </p:spTree>
    <p:extLst>
      <p:ext uri="{BB962C8B-B14F-4D97-AF65-F5344CB8AC3E}">
        <p14:creationId xmlns:p14="http://schemas.microsoft.com/office/powerpoint/2010/main" val="32427233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CD4AC33D-B372-4588-A5F7-D5FE1A7C3847}" type="datetimeFigureOut">
              <a:rPr lang="en-IN" smtClean="0"/>
              <a:t>11-03-2024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8556449F-F3AB-4EEC-8862-D1DDCEDEDC2D}" type="slidenum">
              <a:rPr lang="en-IN" smtClean="0"/>
              <a:t>‹#›</a:t>
            </a:fld>
            <a:endParaRPr lang="en-IN"/>
          </a:p>
        </p:txBody>
      </p:sp>
    </p:spTree>
    <p:extLst>
      <p:ext uri="{BB962C8B-B14F-4D97-AF65-F5344CB8AC3E}">
        <p14:creationId xmlns:p14="http://schemas.microsoft.com/office/powerpoint/2010/main" val="2743502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CD4AC33D-B372-4588-A5F7-D5FE1A7C3847}" type="datetimeFigureOut">
              <a:rPr lang="en-IN" smtClean="0"/>
              <a:t>11-03-2024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8556449F-F3AB-4EEC-8862-D1DDCEDEDC2D}" type="slidenum">
              <a:rPr lang="en-IN" smtClean="0"/>
              <a:t>‹#›</a:t>
            </a:fld>
            <a:endParaRPr lang="en-IN"/>
          </a:p>
        </p:txBody>
      </p:sp>
    </p:spTree>
    <p:extLst>
      <p:ext uri="{BB962C8B-B14F-4D97-AF65-F5344CB8AC3E}">
        <p14:creationId xmlns:p14="http://schemas.microsoft.com/office/powerpoint/2010/main" val="8362776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D4AC33D-B372-4588-A5F7-D5FE1A7C3847}" type="datetimeFigureOut">
              <a:rPr lang="en-IN" smtClean="0"/>
              <a:t>11-03-2024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8556449F-F3AB-4EEC-8862-D1DDCEDEDC2D}" type="slidenum">
              <a:rPr lang="en-IN" smtClean="0"/>
              <a:t>‹#›</a:t>
            </a:fld>
            <a:endParaRPr lang="en-IN"/>
          </a:p>
        </p:txBody>
      </p:sp>
    </p:spTree>
    <p:extLst>
      <p:ext uri="{BB962C8B-B14F-4D97-AF65-F5344CB8AC3E}">
        <p14:creationId xmlns:p14="http://schemas.microsoft.com/office/powerpoint/2010/main" val="40769249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CD4AC33D-B372-4588-A5F7-D5FE1A7C3847}" type="datetimeFigureOut">
              <a:rPr lang="en-IN" smtClean="0"/>
              <a:t>11-03-2024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556449F-F3AB-4EEC-8862-D1DDCEDEDC2D}" type="slidenum">
              <a:rPr lang="en-IN" smtClean="0"/>
              <a:t>‹#›</a:t>
            </a:fld>
            <a:endParaRPr lang="en-IN"/>
          </a:p>
        </p:txBody>
      </p:sp>
    </p:spTree>
    <p:extLst>
      <p:ext uri="{BB962C8B-B14F-4D97-AF65-F5344CB8AC3E}">
        <p14:creationId xmlns:p14="http://schemas.microsoft.com/office/powerpoint/2010/main" val="25931812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CD4AC33D-B372-4588-A5F7-D5FE1A7C3847}" type="datetimeFigureOut">
              <a:rPr lang="en-IN" smtClean="0"/>
              <a:t>11-03-2024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556449F-F3AB-4EEC-8862-D1DDCEDEDC2D}" type="slidenum">
              <a:rPr lang="en-IN" smtClean="0"/>
              <a:t>‹#›</a:t>
            </a:fld>
            <a:endParaRPr lang="en-IN"/>
          </a:p>
        </p:txBody>
      </p:sp>
    </p:spTree>
    <p:extLst>
      <p:ext uri="{BB962C8B-B14F-4D97-AF65-F5344CB8AC3E}">
        <p14:creationId xmlns:p14="http://schemas.microsoft.com/office/powerpoint/2010/main" val="2430541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CD4AC33D-B372-4588-A5F7-D5FE1A7C3847}" type="datetimeFigureOut">
              <a:rPr lang="en-IN" smtClean="0"/>
              <a:t>11-03-2024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556449F-F3AB-4EEC-8862-D1DDCEDEDC2D}" type="slidenum">
              <a:rPr lang="en-IN" smtClean="0"/>
              <a:t>‹#›</a:t>
            </a:fld>
            <a:endParaRPr lang="en-IN"/>
          </a:p>
        </p:txBody>
      </p:sp>
    </p:spTree>
    <p:extLst>
      <p:ext uri="{BB962C8B-B14F-4D97-AF65-F5344CB8AC3E}">
        <p14:creationId xmlns:p14="http://schemas.microsoft.com/office/powerpoint/2010/main" val="12160644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CD4AC33D-B372-4588-A5F7-D5FE1A7C3847}" type="datetimeFigureOut">
              <a:rPr lang="en-IN" smtClean="0"/>
              <a:t>11-03-2024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556449F-F3AB-4EEC-8862-D1DDCEDEDC2D}" type="slidenum">
              <a:rPr lang="en-IN" smtClean="0"/>
              <a:t>‹#›</a:t>
            </a:fld>
            <a:endParaRPr lang="en-IN"/>
          </a:p>
        </p:txBody>
      </p:sp>
    </p:spTree>
    <p:extLst>
      <p:ext uri="{BB962C8B-B14F-4D97-AF65-F5344CB8AC3E}">
        <p14:creationId xmlns:p14="http://schemas.microsoft.com/office/powerpoint/2010/main" val="8684002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D4AC33D-B372-4588-A5F7-D5FE1A7C3847}" type="datetimeFigureOut">
              <a:rPr lang="en-IN" smtClean="0"/>
              <a:t>11-03-2024</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556449F-F3AB-4EEC-8862-D1DDCEDEDC2D}" type="slidenum">
              <a:rPr lang="en-IN" smtClean="0"/>
              <a:t>‹#›</a:t>
            </a:fld>
            <a:endParaRPr lang="en-IN"/>
          </a:p>
        </p:txBody>
      </p:sp>
    </p:spTree>
    <p:extLst>
      <p:ext uri="{BB962C8B-B14F-4D97-AF65-F5344CB8AC3E}">
        <p14:creationId xmlns:p14="http://schemas.microsoft.com/office/powerpoint/2010/main" val="350415802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US" dirty="0"/>
              <a:t>Signboard Detection and Text Recognition Using Machine Learning</a:t>
            </a:r>
            <a:endParaRPr lang="en-IN" dirty="0"/>
          </a:p>
        </p:txBody>
      </p:sp>
      <p:sp>
        <p:nvSpPr>
          <p:cNvPr id="3" name="Subtitle 2"/>
          <p:cNvSpPr>
            <a:spLocks noGrp="1"/>
          </p:cNvSpPr>
          <p:nvPr>
            <p:ph type="subTitle" idx="1"/>
          </p:nvPr>
        </p:nvSpPr>
        <p:spPr/>
        <p:txBody>
          <a:bodyPr/>
          <a:lstStyle/>
          <a:p>
            <a:endParaRPr lang="en-IN"/>
          </a:p>
        </p:txBody>
      </p:sp>
    </p:spTree>
    <p:extLst>
      <p:ext uri="{BB962C8B-B14F-4D97-AF65-F5344CB8AC3E}">
        <p14:creationId xmlns:p14="http://schemas.microsoft.com/office/powerpoint/2010/main" val="23181362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Introduction</a:t>
            </a:r>
            <a:endParaRPr lang="en-IN" dirty="0"/>
          </a:p>
        </p:txBody>
      </p:sp>
      <p:sp>
        <p:nvSpPr>
          <p:cNvPr id="3" name="Content Placeholder 2"/>
          <p:cNvSpPr>
            <a:spLocks noGrp="1"/>
          </p:cNvSpPr>
          <p:nvPr>
            <p:ph idx="1"/>
          </p:nvPr>
        </p:nvSpPr>
        <p:spPr/>
        <p:txBody>
          <a:bodyPr>
            <a:normAutofit/>
          </a:bodyPr>
          <a:lstStyle/>
          <a:p>
            <a:r>
              <a:rPr lang="en-US" dirty="0"/>
              <a:t>Signboards play a crucial role in communication, guiding individuals in various environments such as roads, buildings, and public spaces.</a:t>
            </a:r>
          </a:p>
          <a:p>
            <a:r>
              <a:rPr lang="en-US" dirty="0"/>
              <a:t>Accurate detection and recognition of signboards are essential for:</a:t>
            </a:r>
          </a:p>
          <a:p>
            <a:pPr lvl="1"/>
            <a:r>
              <a:rPr lang="en-US" dirty="0"/>
              <a:t>Enhancing navigation systems for autonomous vehicles</a:t>
            </a:r>
          </a:p>
          <a:p>
            <a:pPr lvl="1"/>
            <a:r>
              <a:rPr lang="en-US" dirty="0"/>
              <a:t>Improving accessibility for visually impaired individuals</a:t>
            </a:r>
          </a:p>
          <a:p>
            <a:pPr lvl="1"/>
            <a:r>
              <a:rPr lang="en-US" dirty="0"/>
              <a:t>Enabling efficient inventory management in retail </a:t>
            </a:r>
            <a:r>
              <a:rPr lang="en-US" dirty="0" smtClean="0"/>
              <a:t>environments</a:t>
            </a:r>
          </a:p>
          <a:p>
            <a:pPr lvl="1"/>
            <a:r>
              <a:rPr lang="en-US" dirty="0" smtClean="0"/>
              <a:t>And for tourist visiting  the place and they don’t recognize the language written in signboard. </a:t>
            </a:r>
            <a:endParaRPr lang="en-US" dirty="0"/>
          </a:p>
          <a:p>
            <a:r>
              <a:rPr lang="en-US" dirty="0" smtClean="0"/>
              <a:t>Machine </a:t>
            </a:r>
            <a:r>
              <a:rPr lang="en-US" dirty="0"/>
              <a:t>learning offers promising solutions by automating the process using computer vision techniques.</a:t>
            </a:r>
          </a:p>
          <a:p>
            <a:endParaRPr lang="en-IN" dirty="0"/>
          </a:p>
        </p:txBody>
      </p:sp>
    </p:spTree>
    <p:extLst>
      <p:ext uri="{BB962C8B-B14F-4D97-AF65-F5344CB8AC3E}">
        <p14:creationId xmlns:p14="http://schemas.microsoft.com/office/powerpoint/2010/main" val="20005235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Objective</a:t>
            </a:r>
            <a:endParaRPr lang="en-IN" dirty="0"/>
          </a:p>
        </p:txBody>
      </p:sp>
      <p:sp>
        <p:nvSpPr>
          <p:cNvPr id="3" name="Content Placeholder 2"/>
          <p:cNvSpPr>
            <a:spLocks noGrp="1"/>
          </p:cNvSpPr>
          <p:nvPr>
            <p:ph idx="1"/>
          </p:nvPr>
        </p:nvSpPr>
        <p:spPr/>
        <p:txBody>
          <a:bodyPr/>
          <a:lstStyle/>
          <a:p>
            <a:r>
              <a:rPr lang="en-US" dirty="0"/>
              <a:t>The main objective of Signboard Detection and Text Recognition Using </a:t>
            </a:r>
            <a:r>
              <a:rPr lang="en-US" dirty="0" smtClean="0"/>
              <a:t>ML is </a:t>
            </a:r>
            <a:r>
              <a:rPr lang="en-US" dirty="0"/>
              <a:t>to develop robust and efficient systems that can automatically detect and recognize signboards in images or video feeds, accurately extract text from them, and interpret the information for various applications.</a:t>
            </a:r>
            <a:endParaRPr lang="en-IN" dirty="0"/>
          </a:p>
        </p:txBody>
      </p:sp>
    </p:spTree>
    <p:extLst>
      <p:ext uri="{BB962C8B-B14F-4D97-AF65-F5344CB8AC3E}">
        <p14:creationId xmlns:p14="http://schemas.microsoft.com/office/powerpoint/2010/main" val="33011862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Machine Learning Approaches</a:t>
            </a:r>
            <a:endParaRPr lang="en-IN" dirty="0"/>
          </a:p>
        </p:txBody>
      </p:sp>
      <p:sp>
        <p:nvSpPr>
          <p:cNvPr id="3" name="Content Placeholder 2"/>
          <p:cNvSpPr>
            <a:spLocks noGrp="1"/>
          </p:cNvSpPr>
          <p:nvPr>
            <p:ph idx="1"/>
          </p:nvPr>
        </p:nvSpPr>
        <p:spPr/>
        <p:txBody>
          <a:bodyPr/>
          <a:lstStyle/>
          <a:p>
            <a:r>
              <a:rPr lang="en-US" dirty="0"/>
              <a:t>Several machine learning approaches are employed for signboard detection, including convolutional neural networks (CNNs), object detection frameworks such as YOLO (You Only Look Once) and SSD (Single Shot </a:t>
            </a:r>
            <a:r>
              <a:rPr lang="en-US" dirty="0" err="1"/>
              <a:t>MultiBox</a:t>
            </a:r>
            <a:r>
              <a:rPr lang="en-US" dirty="0"/>
              <a:t> Detector), and image segmentation </a:t>
            </a:r>
            <a:r>
              <a:rPr lang="en-US" dirty="0" smtClean="0"/>
              <a:t>techniques.</a:t>
            </a:r>
            <a:endParaRPr lang="en-IN" dirty="0"/>
          </a:p>
        </p:txBody>
      </p:sp>
    </p:spTree>
    <p:extLst>
      <p:ext uri="{BB962C8B-B14F-4D97-AF65-F5344CB8AC3E}">
        <p14:creationId xmlns:p14="http://schemas.microsoft.com/office/powerpoint/2010/main" val="22639979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Text Recognition Techniques</a:t>
            </a:r>
            <a:endParaRPr lang="en-IN" dirty="0"/>
          </a:p>
        </p:txBody>
      </p:sp>
      <p:sp>
        <p:nvSpPr>
          <p:cNvPr id="3" name="Content Placeholder 2"/>
          <p:cNvSpPr>
            <a:spLocks noGrp="1"/>
          </p:cNvSpPr>
          <p:nvPr>
            <p:ph idx="1"/>
          </p:nvPr>
        </p:nvSpPr>
        <p:spPr/>
        <p:txBody>
          <a:bodyPr/>
          <a:lstStyle/>
          <a:p>
            <a:r>
              <a:rPr lang="en-US" dirty="0"/>
              <a:t>Text recognition, also known as Optical Character Recognition (OCR), is the process of automatically extracting text from images or documents and converting it into machine-readable text. In the context of signboard detection, text recognition plays a crucial role in extracting meaningful information from the detected signboards, enabling further processing or interpretation of the textual content.</a:t>
            </a:r>
            <a:endParaRPr lang="en-IN" dirty="0"/>
          </a:p>
        </p:txBody>
      </p:sp>
    </p:spTree>
    <p:extLst>
      <p:ext uri="{BB962C8B-B14F-4D97-AF65-F5344CB8AC3E}">
        <p14:creationId xmlns:p14="http://schemas.microsoft.com/office/powerpoint/2010/main" val="42659536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Optical Character Recognition (OCR) Techniques:</a:t>
            </a:r>
            <a:r>
              <a:rPr lang="en-US" dirty="0" smtClean="0"/>
              <a:t/>
            </a:r>
            <a:br>
              <a:rPr lang="en-US" dirty="0" smtClean="0"/>
            </a:br>
            <a:endParaRPr lang="en-IN" dirty="0"/>
          </a:p>
        </p:txBody>
      </p:sp>
      <p:sp>
        <p:nvSpPr>
          <p:cNvPr id="3" name="Content Placeholder 2"/>
          <p:cNvSpPr>
            <a:spLocks noGrp="1"/>
          </p:cNvSpPr>
          <p:nvPr>
            <p:ph idx="1"/>
          </p:nvPr>
        </p:nvSpPr>
        <p:spPr/>
        <p:txBody>
          <a:bodyPr>
            <a:normAutofit fontScale="85000" lnSpcReduction="20000"/>
          </a:bodyPr>
          <a:lstStyle/>
          <a:p>
            <a:r>
              <a:rPr lang="en-US" b="1" dirty="0"/>
              <a:t>Pre-processing:</a:t>
            </a:r>
            <a:endParaRPr lang="en-US" dirty="0"/>
          </a:p>
          <a:p>
            <a:pPr lvl="1"/>
            <a:r>
              <a:rPr lang="en-US" dirty="0"/>
              <a:t>Clean up the image by removing noise and enhancing text regions.</a:t>
            </a:r>
          </a:p>
          <a:p>
            <a:pPr lvl="1"/>
            <a:r>
              <a:rPr lang="en-US" dirty="0"/>
              <a:t>Convert the image to black and white for better clarity.</a:t>
            </a:r>
          </a:p>
          <a:p>
            <a:pPr lvl="1"/>
            <a:r>
              <a:rPr lang="en-US" dirty="0"/>
              <a:t>Identify areas likely to contain text to focus OCR efforts.</a:t>
            </a:r>
          </a:p>
          <a:p>
            <a:r>
              <a:rPr lang="en-US" b="1" dirty="0"/>
              <a:t>Feature Extraction:</a:t>
            </a:r>
            <a:endParaRPr lang="en-US" dirty="0"/>
          </a:p>
          <a:p>
            <a:pPr lvl="1"/>
            <a:r>
              <a:rPr lang="en-US" dirty="0"/>
              <a:t>Pick out distinguishing characteristics of characters, like edges and textures.</a:t>
            </a:r>
          </a:p>
          <a:p>
            <a:pPr lvl="1"/>
            <a:r>
              <a:rPr lang="en-US" dirty="0"/>
              <a:t>Describe the shape of each character to help with recognition.</a:t>
            </a:r>
          </a:p>
          <a:p>
            <a:r>
              <a:rPr lang="en-US" b="1" dirty="0"/>
              <a:t>Classification:</a:t>
            </a:r>
            <a:endParaRPr lang="en-US" dirty="0"/>
          </a:p>
          <a:p>
            <a:pPr lvl="1"/>
            <a:r>
              <a:rPr lang="en-US" dirty="0"/>
              <a:t>Use machine learning to match extracted features to known characters.</a:t>
            </a:r>
          </a:p>
          <a:p>
            <a:pPr lvl="1"/>
            <a:r>
              <a:rPr lang="en-US" dirty="0"/>
              <a:t>Techniques like SVM, Random Forests, RNNs, and CNNs are common for this task.</a:t>
            </a:r>
          </a:p>
          <a:p>
            <a:r>
              <a:rPr lang="en-US" b="1" dirty="0"/>
              <a:t>Post-processing:</a:t>
            </a:r>
            <a:endParaRPr lang="en-US" dirty="0"/>
          </a:p>
          <a:p>
            <a:pPr lvl="1"/>
            <a:r>
              <a:rPr lang="en-US" dirty="0"/>
              <a:t>Refine results by checking for spelling errors and correcting context.</a:t>
            </a:r>
          </a:p>
          <a:p>
            <a:pPr lvl="1"/>
            <a:r>
              <a:rPr lang="en-US" dirty="0"/>
              <a:t>Consider language patterns to improve accuracy further.</a:t>
            </a:r>
          </a:p>
        </p:txBody>
      </p:sp>
    </p:spTree>
    <p:extLst>
      <p:ext uri="{BB962C8B-B14F-4D97-AF65-F5344CB8AC3E}">
        <p14:creationId xmlns:p14="http://schemas.microsoft.com/office/powerpoint/2010/main" val="26213516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key components required for building a signboard detection system</a:t>
            </a:r>
            <a:endParaRPr lang="en-IN" dirty="0"/>
          </a:p>
        </p:txBody>
      </p:sp>
      <p:sp>
        <p:nvSpPr>
          <p:cNvPr id="3" name="Content Placeholder 2"/>
          <p:cNvSpPr>
            <a:spLocks noGrp="1"/>
          </p:cNvSpPr>
          <p:nvPr>
            <p:ph idx="1"/>
          </p:nvPr>
        </p:nvSpPr>
        <p:spPr/>
        <p:txBody>
          <a:bodyPr>
            <a:normAutofit fontScale="77500" lnSpcReduction="20000"/>
          </a:bodyPr>
          <a:lstStyle/>
          <a:p>
            <a:pPr marL="0" indent="0">
              <a:buNone/>
            </a:pPr>
            <a:endParaRPr lang="en-US" dirty="0" smtClean="0"/>
          </a:p>
          <a:p>
            <a:pPr marL="0" indent="0">
              <a:buNone/>
            </a:pPr>
            <a:r>
              <a:rPr lang="en-US" b="1" dirty="0" smtClean="0"/>
              <a:t>Data </a:t>
            </a:r>
            <a:r>
              <a:rPr lang="en-US" b="1" dirty="0"/>
              <a:t>Collection and Preprocessing:</a:t>
            </a:r>
            <a:endParaRPr lang="en-US" dirty="0"/>
          </a:p>
          <a:p>
            <a:pPr lvl="1"/>
            <a:r>
              <a:rPr lang="en-US" dirty="0"/>
              <a:t>Collect images containing signboards and annotate them with bounding boxes.</a:t>
            </a:r>
          </a:p>
          <a:p>
            <a:pPr lvl="1"/>
            <a:r>
              <a:rPr lang="en-US" dirty="0"/>
              <a:t>Preprocess images by resizing, normalizing, and augmenting them for better training.</a:t>
            </a:r>
          </a:p>
          <a:p>
            <a:r>
              <a:rPr lang="en-US" b="1" dirty="0"/>
              <a:t>Model Training:</a:t>
            </a:r>
            <a:endParaRPr lang="en-US" dirty="0"/>
          </a:p>
          <a:p>
            <a:pPr lvl="1"/>
            <a:r>
              <a:rPr lang="en-US" dirty="0"/>
              <a:t>Choose a deep learning model architecture suitable for object detection, such as YOLO or SSD.</a:t>
            </a:r>
          </a:p>
          <a:p>
            <a:pPr lvl="1"/>
            <a:r>
              <a:rPr lang="en-US" dirty="0"/>
              <a:t>Train the model using the annotated dataset to learn to detect signboards in images.</a:t>
            </a:r>
          </a:p>
          <a:p>
            <a:r>
              <a:rPr lang="en-US" b="1" dirty="0"/>
              <a:t>Model Evaluation and Optimization:</a:t>
            </a:r>
            <a:endParaRPr lang="en-US" dirty="0"/>
          </a:p>
          <a:p>
            <a:pPr lvl="1"/>
            <a:r>
              <a:rPr lang="en-US" dirty="0"/>
              <a:t>Evaluate the trained model's performance using validation datasets.</a:t>
            </a:r>
          </a:p>
          <a:p>
            <a:pPr lvl="1"/>
            <a:r>
              <a:rPr lang="en-US" dirty="0"/>
              <a:t>Optimize the model by adjusting </a:t>
            </a:r>
            <a:r>
              <a:rPr lang="en-US" dirty="0" err="1"/>
              <a:t>hyperparameters</a:t>
            </a:r>
            <a:r>
              <a:rPr lang="en-US" dirty="0"/>
              <a:t> and training strategies for better accuracy.</a:t>
            </a:r>
          </a:p>
          <a:p>
            <a:r>
              <a:rPr lang="en-US" b="1" dirty="0"/>
              <a:t>Inference:</a:t>
            </a:r>
            <a:endParaRPr lang="en-US" dirty="0"/>
          </a:p>
          <a:p>
            <a:pPr lvl="1"/>
            <a:r>
              <a:rPr lang="en-US" dirty="0"/>
              <a:t>Deploy the trained model for real-time or batch inference on new images or video streams.</a:t>
            </a:r>
          </a:p>
          <a:p>
            <a:pPr lvl="1"/>
            <a:r>
              <a:rPr lang="en-US" dirty="0"/>
              <a:t>Use the model's predictions to detect and localize signboards within input images or video frames.</a:t>
            </a:r>
          </a:p>
          <a:p>
            <a:endParaRPr lang="en-IN" dirty="0"/>
          </a:p>
        </p:txBody>
      </p:sp>
    </p:spTree>
    <p:extLst>
      <p:ext uri="{BB962C8B-B14F-4D97-AF65-F5344CB8AC3E}">
        <p14:creationId xmlns:p14="http://schemas.microsoft.com/office/powerpoint/2010/main" val="20695593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Applications </a:t>
            </a:r>
            <a:endParaRPr lang="en-IN" dirty="0"/>
          </a:p>
        </p:txBody>
      </p:sp>
      <p:sp>
        <p:nvSpPr>
          <p:cNvPr id="3" name="Content Placeholder 2"/>
          <p:cNvSpPr>
            <a:spLocks noGrp="1"/>
          </p:cNvSpPr>
          <p:nvPr>
            <p:ph idx="1"/>
          </p:nvPr>
        </p:nvSpPr>
        <p:spPr/>
        <p:txBody>
          <a:bodyPr>
            <a:normAutofit fontScale="85000" lnSpcReduction="10000"/>
          </a:bodyPr>
          <a:lstStyle/>
          <a:p>
            <a:r>
              <a:rPr lang="en-US" b="1" dirty="0"/>
              <a:t>Transportation:</a:t>
            </a:r>
            <a:endParaRPr lang="en-US" dirty="0"/>
          </a:p>
          <a:p>
            <a:pPr lvl="1"/>
            <a:r>
              <a:rPr lang="en-US" b="1" dirty="0"/>
              <a:t>Autonomous Vehicles:</a:t>
            </a:r>
            <a:r>
              <a:rPr lang="en-US" dirty="0"/>
              <a:t> Helps cars understand road signs for safe driving.</a:t>
            </a:r>
          </a:p>
          <a:p>
            <a:pPr lvl="1"/>
            <a:r>
              <a:rPr lang="en-US" b="1" dirty="0"/>
              <a:t>Public Transport:</a:t>
            </a:r>
            <a:r>
              <a:rPr lang="en-US" dirty="0"/>
              <a:t> Provides real-time information about stops and schedules.</a:t>
            </a:r>
          </a:p>
          <a:p>
            <a:pPr lvl="1"/>
            <a:r>
              <a:rPr lang="en-US" b="1" dirty="0"/>
              <a:t>Logistics:</a:t>
            </a:r>
            <a:r>
              <a:rPr lang="en-US" dirty="0"/>
              <a:t> Automatically sorts packages based on address labels.</a:t>
            </a:r>
          </a:p>
          <a:p>
            <a:r>
              <a:rPr lang="en-US" b="1" dirty="0"/>
              <a:t>Retail:</a:t>
            </a:r>
            <a:endParaRPr lang="en-US" dirty="0"/>
          </a:p>
          <a:p>
            <a:pPr lvl="1"/>
            <a:r>
              <a:rPr lang="en-US" b="1" dirty="0"/>
              <a:t>Inventory Management:</a:t>
            </a:r>
            <a:r>
              <a:rPr lang="en-US" dirty="0"/>
              <a:t> Keeps track of products by reading labels.</a:t>
            </a:r>
          </a:p>
          <a:p>
            <a:pPr lvl="1"/>
            <a:r>
              <a:rPr lang="en-US" b="1" dirty="0"/>
              <a:t>Price Monitoring:</a:t>
            </a:r>
            <a:r>
              <a:rPr lang="en-US" dirty="0"/>
              <a:t> Helps retailers stay competitive by monitoring prices.</a:t>
            </a:r>
          </a:p>
          <a:p>
            <a:pPr lvl="1"/>
            <a:r>
              <a:rPr lang="en-US" b="1" dirty="0"/>
              <a:t>Marketing:</a:t>
            </a:r>
            <a:r>
              <a:rPr lang="en-US" dirty="0"/>
              <a:t> Enables personalized marketing based on customer preferences.</a:t>
            </a:r>
          </a:p>
          <a:p>
            <a:r>
              <a:rPr lang="en-US" b="1" dirty="0"/>
              <a:t>Urban Planning:</a:t>
            </a:r>
            <a:endParaRPr lang="en-US" dirty="0"/>
          </a:p>
          <a:p>
            <a:pPr lvl="1"/>
            <a:r>
              <a:rPr lang="en-US" b="1" dirty="0"/>
              <a:t>City Navigation:</a:t>
            </a:r>
            <a:r>
              <a:rPr lang="en-US" dirty="0"/>
              <a:t> Guides people by providing information about streets and landmarks.</a:t>
            </a:r>
          </a:p>
          <a:p>
            <a:pPr lvl="1"/>
            <a:r>
              <a:rPr lang="en-US" b="1" dirty="0"/>
              <a:t>Infrastructure Maintenance:</a:t>
            </a:r>
            <a:r>
              <a:rPr lang="en-US" dirty="0"/>
              <a:t> Helps monitor and maintain road signs and infrastructure.</a:t>
            </a:r>
          </a:p>
          <a:p>
            <a:pPr lvl="1"/>
            <a:r>
              <a:rPr lang="en-US" b="1" dirty="0"/>
              <a:t>Public Safety:</a:t>
            </a:r>
            <a:r>
              <a:rPr lang="en-US" dirty="0"/>
              <a:t> Detects and interprets safety signs and warnings for better urban safety.</a:t>
            </a:r>
          </a:p>
          <a:p>
            <a:endParaRPr lang="en-IN" dirty="0"/>
          </a:p>
        </p:txBody>
      </p:sp>
    </p:spTree>
    <p:extLst>
      <p:ext uri="{BB962C8B-B14F-4D97-AF65-F5344CB8AC3E}">
        <p14:creationId xmlns:p14="http://schemas.microsoft.com/office/powerpoint/2010/main" val="4200321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Challenges</a:t>
            </a:r>
            <a:endParaRPr lang="en-IN" dirty="0"/>
          </a:p>
        </p:txBody>
      </p:sp>
      <p:sp>
        <p:nvSpPr>
          <p:cNvPr id="3" name="Content Placeholder 2"/>
          <p:cNvSpPr>
            <a:spLocks noGrp="1"/>
          </p:cNvSpPr>
          <p:nvPr>
            <p:ph idx="1"/>
          </p:nvPr>
        </p:nvSpPr>
        <p:spPr/>
        <p:txBody>
          <a:bodyPr>
            <a:normAutofit fontScale="62500" lnSpcReduction="20000"/>
          </a:bodyPr>
          <a:lstStyle/>
          <a:p>
            <a:r>
              <a:rPr lang="en-US" b="1" dirty="0"/>
              <a:t>Signage Design Variation:</a:t>
            </a:r>
            <a:endParaRPr lang="en-US" dirty="0"/>
          </a:p>
          <a:p>
            <a:pPr lvl="1"/>
            <a:r>
              <a:rPr lang="en-US" dirty="0"/>
              <a:t>Signboards come in all shapes, sizes, colors, and languages, making it hard to build a one-size-fits-all system.</a:t>
            </a:r>
          </a:p>
          <a:p>
            <a:r>
              <a:rPr lang="en-US" b="1" dirty="0"/>
              <a:t>Lighting Problems:</a:t>
            </a:r>
            <a:endParaRPr lang="en-US" dirty="0"/>
          </a:p>
          <a:p>
            <a:pPr lvl="1"/>
            <a:r>
              <a:rPr lang="en-US" dirty="0"/>
              <a:t>Bad lighting, like shadows or glare, can make signs hard to read in photos.</a:t>
            </a:r>
          </a:p>
          <a:p>
            <a:r>
              <a:rPr lang="en-US" b="1" dirty="0"/>
              <a:t>Obstacles and Mess:</a:t>
            </a:r>
            <a:endParaRPr lang="en-US" dirty="0"/>
          </a:p>
          <a:p>
            <a:pPr lvl="1"/>
            <a:r>
              <a:rPr lang="en-US" dirty="0"/>
              <a:t>Things like trees or other signs can block parts of a sign, or there might be too much going on in the background.</a:t>
            </a:r>
          </a:p>
          <a:p>
            <a:r>
              <a:rPr lang="en-US" b="1" dirty="0"/>
              <a:t>Text Differences:</a:t>
            </a:r>
            <a:endParaRPr lang="en-US" dirty="0"/>
          </a:p>
          <a:p>
            <a:pPr lvl="1"/>
            <a:r>
              <a:rPr lang="en-US" dirty="0"/>
              <a:t>Fonts can be weird, text might be small or warped, and sometimes it's even handwritten, which makes it tough for the computer to recognize.</a:t>
            </a:r>
          </a:p>
          <a:p>
            <a:r>
              <a:rPr lang="en-US" b="1" dirty="0"/>
              <a:t>Many Languages:</a:t>
            </a:r>
            <a:endParaRPr lang="en-US" dirty="0"/>
          </a:p>
          <a:p>
            <a:pPr lvl="1"/>
            <a:r>
              <a:rPr lang="en-US" dirty="0"/>
              <a:t>Signs might have text in different languages, which the system needs to understand.</a:t>
            </a:r>
          </a:p>
          <a:p>
            <a:r>
              <a:rPr lang="en-US" b="1" dirty="0"/>
              <a:t>Real-time Needs:</a:t>
            </a:r>
            <a:endParaRPr lang="en-US" dirty="0"/>
          </a:p>
          <a:p>
            <a:pPr lvl="1"/>
            <a:r>
              <a:rPr lang="en-US" dirty="0"/>
              <a:t>Especially for driving, the system has to work fast to recognize signs quickly and accurately.</a:t>
            </a:r>
          </a:p>
          <a:p>
            <a:r>
              <a:rPr lang="en-US" b="1" dirty="0"/>
              <a:t>Limited Data:</a:t>
            </a:r>
            <a:endParaRPr lang="en-US" dirty="0"/>
          </a:p>
          <a:p>
            <a:pPr lvl="1"/>
            <a:r>
              <a:rPr lang="en-US" dirty="0"/>
              <a:t>There might not be enough examples for the computer to learn from, so it can't always recognize signs it hasn't seen before.</a:t>
            </a:r>
          </a:p>
          <a:p>
            <a:endParaRPr lang="en-IN" dirty="0"/>
          </a:p>
        </p:txBody>
      </p:sp>
    </p:spTree>
    <p:extLst>
      <p:ext uri="{BB962C8B-B14F-4D97-AF65-F5344CB8AC3E}">
        <p14:creationId xmlns:p14="http://schemas.microsoft.com/office/powerpoint/2010/main" val="2424363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Challenges</a:t>
            </a:r>
            <a:endParaRPr lang="en-IN" dirty="0"/>
          </a:p>
        </p:txBody>
      </p:sp>
      <p:sp>
        <p:nvSpPr>
          <p:cNvPr id="3" name="Content Placeholder 2"/>
          <p:cNvSpPr>
            <a:spLocks noGrp="1"/>
          </p:cNvSpPr>
          <p:nvPr>
            <p:ph idx="1"/>
          </p:nvPr>
        </p:nvSpPr>
        <p:spPr/>
        <p:txBody>
          <a:bodyPr/>
          <a:lstStyle/>
          <a:p>
            <a:r>
              <a:rPr lang="en-US" dirty="0" smtClean="0"/>
              <a:t>in </a:t>
            </a:r>
            <a:r>
              <a:rPr lang="en-US" dirty="0"/>
              <a:t>conclusion, the field of signboard detection and text recognition using machine learning is rapidly advancing, offering promising opportunities for a wide range of applications across industries. Despite the challenges posed by variations in signage design, lighting conditions, and text variability, ongoing research and development efforts are paving the way for more robust, accurate, and adaptable systems.</a:t>
            </a:r>
            <a:endParaRPr lang="en-IN" dirty="0"/>
          </a:p>
        </p:txBody>
      </p:sp>
    </p:spTree>
    <p:extLst>
      <p:ext uri="{BB962C8B-B14F-4D97-AF65-F5344CB8AC3E}">
        <p14:creationId xmlns:p14="http://schemas.microsoft.com/office/powerpoint/2010/main" val="117994121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22</TotalTime>
  <Words>855</Words>
  <Application>Microsoft Office PowerPoint</Application>
  <PresentationFormat>Widescreen</PresentationFormat>
  <Paragraphs>73</Paragraphs>
  <Slides>10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Calibri Light</vt:lpstr>
      <vt:lpstr>Office Theme</vt:lpstr>
      <vt:lpstr>Signboard Detection and Text Recognition Using Machine Learning</vt:lpstr>
      <vt:lpstr>Introduction</vt:lpstr>
      <vt:lpstr>Objective</vt:lpstr>
      <vt:lpstr>Machine Learning Approaches</vt:lpstr>
      <vt:lpstr>Text Recognition Techniques</vt:lpstr>
      <vt:lpstr>Optical Character Recognition (OCR) Techniques: </vt:lpstr>
      <vt:lpstr>key components required for building a signboard detection system</vt:lpstr>
      <vt:lpstr>Applications </vt:lpstr>
      <vt:lpstr>Challenges</vt:lpstr>
      <vt:lpstr>Challenges</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Signboard Detection and Text Recognition Using Machine Learning</dc:title>
  <dc:creator>Microsoft account</dc:creator>
  <cp:lastModifiedBy>Microsoft account</cp:lastModifiedBy>
  <cp:revision>4</cp:revision>
  <dcterms:created xsi:type="dcterms:W3CDTF">2024-03-11T15:21:14Z</dcterms:created>
  <dcterms:modified xsi:type="dcterms:W3CDTF">2024-03-11T15:43:56Z</dcterms:modified>
</cp:coreProperties>
</file>